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38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9ECCE-56BA-44C4-BAFF-2D1712B1B8B5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ADFC4-99D9-471E-B733-6E1864FE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ADFC4-99D9-471E-B733-6E1864FE2A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915373" y="1529153"/>
            <a:ext cx="7148808" cy="40998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8391" y="1900279"/>
            <a:ext cx="46460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dirty="0" err="1">
                <a:solidFill>
                  <a:srgbClr val="1C4330"/>
                </a:solidFill>
                <a:latin typeface="Aptos Display" panose="020B0004020202020204" pitchFamily="34" charset="0"/>
              </a:rPr>
              <a:t>EvenUp</a:t>
            </a:r>
            <a:endParaRPr lang="en-US" sz="4800" b="1" dirty="0">
              <a:solidFill>
                <a:srgbClr val="1C4330"/>
              </a:solidFill>
              <a:latin typeface="Aptos Display" panose="020B0004020202020204" pitchFamily="34" charset="0"/>
            </a:endParaRPr>
          </a:p>
          <a:p>
            <a:r>
              <a:rPr lang="en-US" sz="2400" dirty="0">
                <a:solidFill>
                  <a:srgbClr val="232A26"/>
                </a:solidFill>
                <a:latin typeface="Arial Rounded MT Bold" panose="020F0704030504030204" pitchFamily="34" charset="0"/>
              </a:rPr>
              <a:t>A </a:t>
            </a:r>
            <a:r>
              <a:rPr sz="2400" dirty="0">
                <a:solidFill>
                  <a:srgbClr val="232A26"/>
                </a:solidFill>
                <a:latin typeface="Arial Rounded MT Bold" panose="020F0704030504030204" pitchFamily="34" charset="0"/>
              </a:rPr>
              <a:t>Smart Shared Expense &amp; Bill-Splitting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93387" y="1838960"/>
            <a:ext cx="121986" cy="3408261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72462" y="3829181"/>
            <a:ext cx="4451948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1C4330"/>
                </a:solidFill>
                <a:latin typeface="Aptos"/>
              </a:rPr>
              <a:t>PRESENTED BY:</a:t>
            </a:r>
            <a:endParaRPr sz="1200" b="1" dirty="0">
              <a:solidFill>
                <a:srgbClr val="1C4330"/>
              </a:solidFill>
              <a:latin typeface="Aptos"/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Pratiksha Rajesh Gaikwad </a:t>
            </a:r>
            <a:endParaRPr lang="en-US" sz="1300" dirty="0">
              <a:solidFill>
                <a:srgbClr val="5C6961"/>
              </a:solidFill>
              <a:latin typeface="Aptos"/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 Roll No. 66010
</a:t>
            </a:r>
            <a:r>
              <a:rPr lang="en-US" sz="1300" dirty="0" err="1">
                <a:solidFill>
                  <a:srgbClr val="5C6961"/>
                </a:solidFill>
                <a:latin typeface="Aptos"/>
              </a:rPr>
              <a:t>TY.</a:t>
            </a:r>
            <a:r>
              <a:rPr sz="1300" dirty="0" err="1">
                <a:solidFill>
                  <a:srgbClr val="5C6961"/>
                </a:solidFill>
                <a:latin typeface="Aptos"/>
              </a:rPr>
              <a:t>B.Sc</a:t>
            </a:r>
            <a:r>
              <a:rPr sz="1300" dirty="0">
                <a:solidFill>
                  <a:srgbClr val="5C6961"/>
                </a:solidFill>
                <a:latin typeface="Aptos"/>
              </a:rPr>
              <a:t>. Computer Science</a:t>
            </a:r>
            <a:endParaRPr lang="en-US" sz="1300" dirty="0">
              <a:solidFill>
                <a:srgbClr val="5C6961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489DE-EA25-905A-B9DD-2E97A29E8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897" y="1900279"/>
            <a:ext cx="6331759" cy="3525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2322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Why </a:t>
            </a:r>
            <a:r>
              <a:rPr sz="2700" b="1" dirty="0" err="1">
                <a:solidFill>
                  <a:srgbClr val="1C4330"/>
                </a:solidFill>
                <a:latin typeface="Aptos Display"/>
              </a:rPr>
              <a:t>EvenUp</a:t>
            </a:r>
            <a:r>
              <a:rPr sz="2700" b="1" dirty="0">
                <a:solidFill>
                  <a:srgbClr val="1C4330"/>
                </a:solidFill>
                <a:latin typeface="Aptos Display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80744"/>
            <a:ext cx="2148840" cy="72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WHO PAID?</a:t>
            </a: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5C6961"/>
                </a:solidFill>
                <a:latin typeface="Aptos" panose="020B0004020202020204" pitchFamily="34" charset="0"/>
              </a:rPr>
              <a:t>Different members pay for different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889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73152" cy="132588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935224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WHO OWES?</a:t>
            </a: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5C6961"/>
                </a:solidFill>
                <a:latin typeface="Aptos"/>
              </a:rPr>
              <a:t>Not every expense involves everyone.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3434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4343400"/>
            <a:ext cx="73152" cy="132588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4489704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4330"/>
                </a:solidFill>
                <a:latin typeface="Aptos"/>
              </a:rPr>
              <a:t>HOW MUCH?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5C6961"/>
                </a:solidFill>
                <a:latin typeface="Aptos"/>
              </a:rPr>
              <a:t>Manual calculations become difficult.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1234440"/>
            <a:ext cx="73152" cy="132588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1380744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4330"/>
                </a:solidFill>
                <a:latin typeface="Aptos"/>
              </a:rPr>
              <a:t>WAS IT SETTLED?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5C6961"/>
                </a:solidFill>
                <a:latin typeface="Aptos"/>
              </a:rPr>
              <a:t>Chat-based payments may lack a durable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971800"/>
            <a:ext cx="7498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dirty="0">
                <a:solidFill>
                  <a:srgbClr val="1C4330"/>
                </a:solidFill>
                <a:latin typeface="Aptos"/>
              </a:rPr>
              <a:t>Manual notes  →  repeated calculations  →  confusion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794760"/>
            <a:ext cx="7406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9000" y="3794760"/>
            <a:ext cx="73152" cy="1417320"/>
          </a:xfrm>
          <a:prstGeom prst="rect">
            <a:avLst/>
          </a:prstGeom>
          <a:solidFill>
            <a:srgbClr val="1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30168" y="3941064"/>
            <a:ext cx="7040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EVENUP'S RESPONSE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5C6961"/>
                </a:solidFill>
                <a:latin typeface="Aptos"/>
              </a:rPr>
              <a:t>A shared, persistent record connecting people, expenses, shares, balances and settlements.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11628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Our Solution</a:t>
            </a:r>
            <a:r>
              <a:rPr lang="en-US" sz="2700" b="1" dirty="0">
                <a:solidFill>
                  <a:srgbClr val="1C4330"/>
                </a:solidFill>
                <a:latin typeface="Aptos Display"/>
              </a:rPr>
              <a:t>:</a:t>
            </a:r>
            <a:endParaRPr sz="2700" b="1" dirty="0">
              <a:solidFill>
                <a:srgbClr val="1C4330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834" y="1478054"/>
            <a:ext cx="396141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dirty="0">
                <a:solidFill>
                  <a:srgbClr val="1C4330"/>
                </a:solidFill>
                <a:latin typeface="Aptos"/>
              </a:rPr>
              <a:t>One platform to record, split, calculate and settle shared expenses.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34" y="2905145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26"/>
                </a:solidFill>
                <a:latin typeface="Aptos"/>
              </a:defRPr>
            </a:pPr>
            <a:r>
              <a:rPr dirty="0"/>
              <a:t>• User registration &amp; login</a:t>
            </a:r>
          </a:p>
          <a:p>
            <a:pPr>
              <a:spcAft>
                <a:spcPts val="700"/>
              </a:spcAft>
              <a:defRPr sz="1600">
                <a:solidFill>
                  <a:srgbClr val="232A26"/>
                </a:solidFill>
                <a:latin typeface="Aptos"/>
              </a:defRPr>
            </a:pPr>
            <a:r>
              <a:rPr dirty="0"/>
              <a:t>• Group creation &amp; members</a:t>
            </a:r>
          </a:p>
          <a:p>
            <a:pPr>
              <a:spcAft>
                <a:spcPts val="700"/>
              </a:spcAft>
              <a:defRPr sz="1600">
                <a:solidFill>
                  <a:srgbClr val="232A26"/>
                </a:solidFill>
                <a:latin typeface="Aptos"/>
              </a:defRPr>
            </a:pPr>
            <a:r>
              <a:rPr dirty="0"/>
              <a:t>• Equal / selected-member splitting</a:t>
            </a:r>
          </a:p>
          <a:p>
            <a:pPr>
              <a:spcAft>
                <a:spcPts val="700"/>
              </a:spcAft>
              <a:defRPr sz="1600">
                <a:solidFill>
                  <a:srgbClr val="232A26"/>
                </a:solidFill>
                <a:latin typeface="Aptos"/>
              </a:defRPr>
            </a:pPr>
            <a:r>
              <a:rPr dirty="0"/>
              <a:t>• Automatic balances &amp; settlement suggestions</a:t>
            </a:r>
          </a:p>
          <a:p>
            <a:pPr>
              <a:spcAft>
                <a:spcPts val="700"/>
              </a:spcAft>
              <a:defRPr sz="1600">
                <a:solidFill>
                  <a:srgbClr val="232A26"/>
                </a:solidFill>
                <a:latin typeface="Aptos"/>
              </a:defRPr>
            </a:pPr>
            <a:r>
              <a:rPr dirty="0"/>
              <a:t>• Expense history &amp; filters</a:t>
            </a:r>
          </a:p>
          <a:p>
            <a:pPr>
              <a:spcAft>
                <a:spcPts val="700"/>
              </a:spcAft>
              <a:defRPr sz="1600">
                <a:solidFill>
                  <a:srgbClr val="232A26"/>
                </a:solidFill>
                <a:latin typeface="Aptos"/>
              </a:defRPr>
            </a:pPr>
            <a:r>
              <a:rPr dirty="0"/>
              <a:t>• Insights, messages &amp; reporting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CD94C01F-11DC-F8DD-26E4-D0FC69FDC4FB}"/>
              </a:ext>
            </a:extLst>
          </p:cNvPr>
          <p:cNvSpPr/>
          <p:nvPr/>
        </p:nvSpPr>
        <p:spPr>
          <a:xfrm>
            <a:off x="4812403" y="1691383"/>
            <a:ext cx="7148808" cy="409981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0C3BAE-1D55-A65F-4385-DFB74D8D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874" y="1966460"/>
            <a:ext cx="6243865" cy="3549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75351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380744"/>
            <a:ext cx="288036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FRONTEND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HTML • Jinja Templates</a:t>
            </a:r>
            <a:endParaRPr lang="en-US" sz="1300" dirty="0">
              <a:solidFill>
                <a:srgbClr val="5C6961"/>
              </a:solidFill>
              <a:latin typeface="Aptos"/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 • CSS •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143000"/>
          </a:xfrm>
          <a:prstGeom prst="rect">
            <a:avLst/>
          </a:prstGeom>
          <a:solidFill>
            <a:srgbClr val="1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380744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BACKEND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Python </a:t>
            </a:r>
            <a:endParaRPr lang="en-US" sz="1300" dirty="0">
              <a:solidFill>
                <a:srgbClr val="5C6961"/>
              </a:solidFill>
              <a:latin typeface="Aptos"/>
            </a:endParaRP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• Flask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73152" cy="114300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380744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DATABASE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MySQL • </a:t>
            </a:r>
            <a:r>
              <a:rPr sz="1300" dirty="0" err="1">
                <a:solidFill>
                  <a:srgbClr val="5C6961"/>
                </a:solidFill>
                <a:latin typeface="Aptos"/>
              </a:rPr>
              <a:t>mysql</a:t>
            </a:r>
            <a:r>
              <a:rPr sz="1300" dirty="0">
                <a:solidFill>
                  <a:srgbClr val="5C6961"/>
                </a:solidFill>
                <a:latin typeface="Aptos"/>
              </a:rPr>
              <a:t>-connector-python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974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697480"/>
            <a:ext cx="73152" cy="1143000"/>
          </a:xfrm>
          <a:prstGeom prst="rect">
            <a:avLst/>
          </a:prstGeom>
          <a:solidFill>
            <a:srgbClr val="1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843784"/>
            <a:ext cx="288036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AUTHENTICATION</a:t>
            </a:r>
          </a:p>
          <a:p>
            <a:pPr>
              <a:spcBef>
                <a:spcPts val="500"/>
              </a:spcBef>
            </a:pPr>
            <a:r>
              <a:rPr sz="1200" dirty="0" err="1">
                <a:solidFill>
                  <a:srgbClr val="5C6961"/>
                </a:solidFill>
                <a:latin typeface="Aptos"/>
              </a:rPr>
              <a:t>Werkzeug</a:t>
            </a:r>
            <a:r>
              <a:rPr sz="1200" dirty="0">
                <a:solidFill>
                  <a:srgbClr val="5C6961"/>
                </a:solidFill>
                <a:latin typeface="Aptos"/>
              </a:rPr>
              <a:t> password hashing </a:t>
            </a:r>
            <a:endParaRPr lang="en-US" sz="1200" dirty="0">
              <a:solidFill>
                <a:srgbClr val="5C6961"/>
              </a:solidFill>
              <a:latin typeface="Aptos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5C6961"/>
                </a:solidFill>
                <a:latin typeface="Aptos"/>
              </a:rPr>
              <a:t>•Optional Google OAuth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6974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2697480"/>
            <a:ext cx="73152" cy="114300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7" y="2843784"/>
            <a:ext cx="2880360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MODELLING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UML diagrams </a:t>
            </a:r>
            <a:endParaRPr lang="en-US" sz="1300" dirty="0">
              <a:solidFill>
                <a:srgbClr val="5C696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83879" y="269748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2697480"/>
            <a:ext cx="73152" cy="1143000"/>
          </a:xfrm>
          <a:prstGeom prst="rect">
            <a:avLst/>
          </a:prstGeom>
          <a:solidFill>
            <a:srgbClr val="1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8" y="2843784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ARCHITECTURE</a:t>
            </a:r>
          </a:p>
          <a:p>
            <a:pPr>
              <a:spcBef>
                <a:spcPts val="500"/>
              </a:spcBef>
            </a:pPr>
            <a:r>
              <a:rPr sz="1300" dirty="0">
                <a:solidFill>
                  <a:srgbClr val="5C6961"/>
                </a:solidFill>
                <a:latin typeface="Aptos"/>
              </a:rPr>
              <a:t>Layered Flask monolith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2968" y="473202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1C4330"/>
                </a:solidFill>
                <a:latin typeface="Aptos"/>
              </a:rPr>
              <a:t>Browser  →  Flask + Jinja  →  MySQL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0752" y="5206673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94176" y="5143500"/>
            <a:ext cx="73152" cy="96012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03904" y="52806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WHY THIS STACK?</a:t>
            </a:r>
          </a:p>
          <a:p>
            <a:pPr>
              <a:spcBef>
                <a:spcPts val="500"/>
              </a:spcBef>
            </a:pPr>
            <a:r>
              <a:rPr sz="1100" dirty="0">
                <a:solidFill>
                  <a:srgbClr val="5C6961"/>
                </a:solidFill>
                <a:latin typeface="Aptos"/>
              </a:rPr>
              <a:t>Relational data + server-rendered workflows + suitable academic-scale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07539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How </a:t>
            </a:r>
            <a:r>
              <a:rPr sz="2700" b="1" dirty="0" err="1">
                <a:solidFill>
                  <a:srgbClr val="1C4330"/>
                </a:solidFill>
                <a:latin typeface="Aptos Display"/>
              </a:rPr>
              <a:t>EvenUp</a:t>
            </a:r>
            <a:r>
              <a:rPr sz="2700" b="1" dirty="0">
                <a:solidFill>
                  <a:srgbClr val="1C4330"/>
                </a:solidFill>
                <a:latin typeface="Aptos Display"/>
              </a:rPr>
              <a:t>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1. 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73936" y="1673352"/>
            <a:ext cx="320040" cy="274320"/>
          </a:xfrm>
          <a:prstGeom prst="rightArrow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5740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30552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2. Create Group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28415" y="1673352"/>
            <a:ext cx="320040" cy="274320"/>
          </a:xfrm>
          <a:prstGeom prst="rightArrow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1188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2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3. Add Members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2896" y="1673352"/>
            <a:ext cx="320040" cy="274320"/>
          </a:xfrm>
          <a:prstGeom prst="rightArrow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636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4. Add Expense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437376" y="1673352"/>
            <a:ext cx="320040" cy="274320"/>
          </a:xfrm>
          <a:prstGeom prst="rightArrow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2084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5. Split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91856" y="1673352"/>
            <a:ext cx="320040" cy="274320"/>
          </a:xfrm>
          <a:prstGeom prst="rightArrow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7532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6. Calculate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46336" y="1673352"/>
            <a:ext cx="320040" cy="274320"/>
          </a:xfrm>
          <a:prstGeom prst="rightArrow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29800" y="14173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2" y="1490472"/>
            <a:ext cx="1088136" cy="6309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C4330"/>
                </a:solidFill>
                <a:latin typeface="Aptos"/>
              </a:rPr>
              <a:t>7. Settle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AC2389B-5DFA-FCD4-88EB-39C0A6B42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2450592"/>
            <a:ext cx="2715768" cy="4242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F74CFB8-AE35-5849-0303-72252F75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8" t="172"/>
          <a:stretch>
            <a:fillRect/>
          </a:stretch>
        </p:blipFill>
        <p:spPr>
          <a:xfrm>
            <a:off x="3753925" y="2450592"/>
            <a:ext cx="3545170" cy="3617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E318C67-37F1-2649-A3A2-6DF39CE2B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351" y="2450592"/>
            <a:ext cx="3275628" cy="3808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30260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Core Logic </a:t>
            </a:r>
            <a:r>
              <a:rPr lang="en-US" sz="2700" b="1" dirty="0">
                <a:solidFill>
                  <a:srgbClr val="1C4330"/>
                </a:solidFill>
                <a:latin typeface="Aptos Display"/>
              </a:rPr>
              <a:t>:</a:t>
            </a:r>
            <a:r>
              <a:rPr sz="2700" b="1" dirty="0">
                <a:solidFill>
                  <a:srgbClr val="1C4330"/>
                </a:solidFill>
                <a:latin typeface="Aptos Display"/>
              </a:rPr>
              <a:t> Expense to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2322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1C4330"/>
                </a:solidFill>
                <a:latin typeface="Aptos"/>
              </a:rPr>
              <a:t>Example: ₹1,200 dinner shared by </a:t>
            </a:r>
            <a:r>
              <a:rPr lang="en-US" sz="1800" b="1" dirty="0" err="1">
                <a:solidFill>
                  <a:srgbClr val="1C4330"/>
                </a:solidFill>
                <a:latin typeface="Aptos"/>
              </a:rPr>
              <a:t>asd</a:t>
            </a:r>
            <a:r>
              <a:rPr lang="en-US" b="1" dirty="0" err="1">
                <a:solidFill>
                  <a:srgbClr val="1C4330"/>
                </a:solidFill>
                <a:latin typeface="Aptos"/>
              </a:rPr>
              <a:t>,pari</a:t>
            </a:r>
            <a:r>
              <a:rPr lang="en-US" b="1" dirty="0">
                <a:solidFill>
                  <a:srgbClr val="1C4330"/>
                </a:solidFill>
                <a:latin typeface="Aptos"/>
              </a:rPr>
              <a:t> </a:t>
            </a:r>
            <a:r>
              <a:rPr sz="1800" b="1" dirty="0">
                <a:solidFill>
                  <a:srgbClr val="1C4330"/>
                </a:solidFill>
                <a:latin typeface="Aptos"/>
              </a:rPr>
              <a:t>&amp;</a:t>
            </a:r>
            <a:r>
              <a:rPr lang="en-US" sz="1800" b="1" dirty="0" err="1">
                <a:solidFill>
                  <a:srgbClr val="1C4330"/>
                </a:solidFill>
                <a:latin typeface="Aptos"/>
              </a:rPr>
              <a:t>que</a:t>
            </a:r>
            <a:endParaRPr sz="1800" b="1" dirty="0">
              <a:solidFill>
                <a:srgbClr val="1C4330"/>
              </a:solidFill>
              <a:latin typeface="Apto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43645"/>
              </p:ext>
            </p:extLst>
          </p:nvPr>
        </p:nvGraphicFramePr>
        <p:xfrm>
          <a:off x="640081" y="1620012"/>
          <a:ext cx="5455921" cy="2001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72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Member</a:t>
                      </a:r>
                    </a:p>
                  </a:txBody>
                  <a:tcPr marL="73152" marR="45720">
                    <a:solidFill>
                      <a:srgbClr val="1C4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Paid</a:t>
                      </a:r>
                    </a:p>
                  </a:txBody>
                  <a:tcPr marL="73152" marR="45720">
                    <a:solidFill>
                      <a:srgbClr val="1C4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Share</a:t>
                      </a:r>
                    </a:p>
                  </a:txBody>
                  <a:tcPr marL="73152" marR="45720">
                    <a:solidFill>
                      <a:srgbClr val="1C4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 marL="73152" marR="45720">
                    <a:solidFill>
                      <a:srgbClr val="1C4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29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 err="1">
                          <a:solidFill>
                            <a:srgbClr val="232A26"/>
                          </a:solidFill>
                          <a:latin typeface="Aptos"/>
                        </a:rPr>
                        <a:t>asd</a:t>
                      </a:r>
                      <a:endParaRPr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26"/>
                          </a:solidFill>
                          <a:latin typeface="Aptos"/>
                        </a:rPr>
                        <a:t>₹1,200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₹</a:t>
                      </a: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4</a:t>
                      </a:r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00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+₹</a:t>
                      </a: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8</a:t>
                      </a:r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00</a:t>
                      </a: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9114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Pari</a:t>
                      </a:r>
                    </a:p>
                    <a:p>
                      <a:pPr algn="ctr"/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algn="ctr"/>
                      <a:r>
                        <a:rPr lang="en-US" sz="1300" b="0" dirty="0" err="1">
                          <a:solidFill>
                            <a:srgbClr val="232A26"/>
                          </a:solidFill>
                          <a:latin typeface="Aptos"/>
                        </a:rPr>
                        <a:t>que</a:t>
                      </a:r>
                      <a:endParaRPr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₹0</a:t>
                      </a:r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algn="ctr"/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₹0</a:t>
                      </a:r>
                    </a:p>
                    <a:p>
                      <a:pPr algn="ctr"/>
                      <a:endParaRPr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₹</a:t>
                      </a: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4</a:t>
                      </a:r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00</a:t>
                      </a:r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algn="ctr"/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₹400</a:t>
                      </a:r>
                    </a:p>
                    <a:p>
                      <a:pPr algn="ctr"/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−₹</a:t>
                      </a: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4</a:t>
                      </a:r>
                      <a:r>
                        <a:rPr sz="1300" b="0" dirty="0">
                          <a:solidFill>
                            <a:srgbClr val="232A26"/>
                          </a:solidFill>
                          <a:latin typeface="Aptos"/>
                        </a:rPr>
                        <a:t>00</a:t>
                      </a:r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algn="ctr"/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232A26"/>
                          </a:solidFill>
                          <a:latin typeface="Aptos"/>
                        </a:rPr>
                        <a:t>−₹400</a:t>
                      </a:r>
                    </a:p>
                    <a:p>
                      <a:pPr algn="ctr"/>
                      <a:endParaRPr lang="en-US"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  <a:p>
                      <a:pPr algn="ctr"/>
                      <a:endParaRPr sz="1300" b="0" dirty="0">
                        <a:solidFill>
                          <a:srgbClr val="232A26"/>
                        </a:solidFill>
                        <a:latin typeface="Aptos"/>
                      </a:endParaRPr>
                    </a:p>
                  </a:txBody>
                  <a:tcPr marL="73152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794274"/>
            <a:ext cx="5504687" cy="914886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73152" cy="105156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482" y="3835907"/>
            <a:ext cx="530352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4330"/>
                </a:solidFill>
                <a:latin typeface="Aptos"/>
              </a:rPr>
              <a:t>BALANCE LOGIC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5C6961"/>
                </a:solidFill>
                <a:latin typeface="Aptos"/>
              </a:rPr>
              <a:t>Positive balance → should receive   |   Negative balance → should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5669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937760"/>
            <a:ext cx="73152" cy="914400"/>
          </a:xfrm>
          <a:prstGeom prst="rect">
            <a:avLst/>
          </a:prstGeom>
          <a:solidFill>
            <a:srgbClr val="1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508406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C4330"/>
                </a:solidFill>
                <a:latin typeface="Aptos"/>
              </a:rPr>
              <a:t>SETTLEMENT SUGGESTION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5C6961"/>
                </a:solidFill>
                <a:latin typeface="Aptos"/>
              </a:rPr>
              <a:t>Bob → Alice : ₹600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A62D0F-2AA3-01CF-315C-3C08D9173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632" y="1782346"/>
            <a:ext cx="4546999" cy="2675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CD0193D-0FF0-74FA-9B9B-FADEAFD9D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14"/>
          <a:stretch>
            <a:fillRect/>
          </a:stretch>
        </p:blipFill>
        <p:spPr>
          <a:xfrm>
            <a:off x="7810223" y="1181115"/>
            <a:ext cx="4066751" cy="2512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38448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Product Walkthrough </a:t>
            </a:r>
            <a:r>
              <a:rPr lang="en-US" sz="2700" b="1" dirty="0">
                <a:solidFill>
                  <a:srgbClr val="1C4330"/>
                </a:solidFill>
                <a:latin typeface="Aptos Display"/>
              </a:rPr>
              <a:t>-</a:t>
            </a:r>
            <a:r>
              <a:rPr sz="2700" b="1" dirty="0">
                <a:solidFill>
                  <a:srgbClr val="1C4330"/>
                </a:solidFill>
                <a:latin typeface="Aptos Display"/>
              </a:rPr>
              <a:t>Key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22876" y="4525261"/>
            <a:ext cx="6690299" cy="2177291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86300" y="4630926"/>
            <a:ext cx="73152" cy="196596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6909" y="4671628"/>
            <a:ext cx="4582669" cy="172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C4330"/>
                </a:solidFill>
                <a:latin typeface="Aptos"/>
              </a:rPr>
              <a:t>THE WEBSITE GOES BEYOND BILL SPLITTING</a:t>
            </a:r>
          </a:p>
          <a:p>
            <a:pPr>
              <a:spcBef>
                <a:spcPts val="500"/>
              </a:spcBef>
            </a:pPr>
            <a:r>
              <a:rPr sz="1400" dirty="0">
                <a:solidFill>
                  <a:srgbClr val="5C6961"/>
                </a:solidFill>
                <a:latin typeface="Aptos"/>
              </a:rPr>
              <a:t>• Searchable expense history
• Spending insights and trends
• Group communication
• Profile management
• Reporting/export controls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A5A5C5-6169-E74F-D4AB-151FAD18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329" y="1048516"/>
            <a:ext cx="4023161" cy="3025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81FDA6-3EEA-713B-617E-CE360C44C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26" y="1057698"/>
            <a:ext cx="2998871" cy="4633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7018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C4330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73152" cy="2057400"/>
          </a:xfrm>
          <a:prstGeom prst="rect">
            <a:avLst/>
          </a:prstGeom>
          <a:solidFill>
            <a:srgbClr val="ADD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35024"/>
            <a:ext cx="498347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330"/>
                </a:solidFill>
                <a:latin typeface="Aptos"/>
              </a:rPr>
              <a:t>WHAT WE ACHIEVED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C6961"/>
                </a:solidFill>
                <a:latin typeface="Aptos"/>
              </a:rPr>
              <a:t>✓ Shared expense management
✓ Equal &amp; selected-member splitting
✓ Automatic balances &amp; settlements
✓ Expense history &amp; insights
✓ Group communication &amp;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73152" cy="2057400"/>
          </a:xfrm>
          <a:prstGeom prst="rect">
            <a:avLst/>
          </a:prstGeom>
          <a:solidFill>
            <a:srgbClr val="1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3520440"/>
            <a:ext cx="498347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C4330"/>
                </a:solidFill>
                <a:latin typeface="Aptos"/>
              </a:rPr>
              <a:t>FUTURE SCOPE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C6961"/>
                </a:solidFill>
                <a:latin typeface="Aptos"/>
              </a:rPr>
              <a:t>• Multi-currency support
• Receipt attachments
• Notifications &amp; reminders
• Payment gateway integration
• Role-based permissions
• Mobile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5399094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dirty="0">
                <a:solidFill>
                  <a:srgbClr val="1C4330"/>
                </a:solidFill>
                <a:latin typeface="Aptos Display"/>
              </a:rPr>
              <a:t>“Split expenses. Clear balances. Better coordination.”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4803DD-35A7-22A2-2E6E-FE3F3A63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3" y="1423346"/>
            <a:ext cx="5739527" cy="34504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403</Words>
  <Application>Microsoft Office PowerPoint</Application>
  <PresentationFormat>Widescreen</PresentationFormat>
  <Paragraphs>88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pratiksha gaikwad</dc:creator>
  <cp:keywords/>
  <dc:description>generated using python-pptx</dc:description>
  <cp:lastModifiedBy>pratiksha gaikwad</cp:lastModifiedBy>
  <cp:revision>5</cp:revision>
  <dcterms:created xsi:type="dcterms:W3CDTF">2013-01-27T09:14:16Z</dcterms:created>
  <dcterms:modified xsi:type="dcterms:W3CDTF">2026-09-22T18:43:49Z</dcterms:modified>
  <cp:category/>
</cp:coreProperties>
</file>